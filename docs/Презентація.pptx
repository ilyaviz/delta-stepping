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Montserrat Bold" panose="020B0604020202020204" charset="-52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Aileron Bold" panose="020B0604020202020204" charset="0"/>
      <p:regular r:id="rId18"/>
    </p:embeddedFont>
    <p:embeddedFont>
      <p:font typeface="Montserrat" panose="020B0604020202020204" charset="-52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660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4145" y="0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748364" y="8843932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169859" y="5618309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53534" y="2321832"/>
            <a:ext cx="11980932" cy="269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88"/>
              </a:lnSpc>
            </a:pPr>
            <a:r>
              <a:rPr lang="en-US" sz="4942" b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Алгоритм Δ-степiнгу пошуку найкоротших шляхiв та його паралельна реалiзацiя мовою Python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4771" y="5428270"/>
            <a:ext cx="9138458" cy="123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67"/>
              </a:lnSpc>
            </a:pPr>
            <a:r>
              <a:rPr lang="en-US" sz="3053" b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Виконавець: IП-31 Вiжуткiн Iлля Дмитрович, </a:t>
            </a:r>
          </a:p>
          <a:p>
            <a:pPr marL="0" lvl="0" indent="0" algn="ctr">
              <a:lnSpc>
                <a:spcPts val="3267"/>
              </a:lnSpc>
            </a:pPr>
            <a:r>
              <a:rPr lang="en-US" sz="3053" b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Керiвник: ст. викл. Дифучин А. Ю.</a:t>
            </a:r>
          </a:p>
          <a:p>
            <a:pPr marL="0" lvl="0" indent="0" algn="ctr">
              <a:lnSpc>
                <a:spcPts val="3267"/>
              </a:lnSpc>
            </a:pPr>
            <a:endParaRPr lang="en-US" sz="3053" b="1">
              <a:solidFill>
                <a:srgbClr val="576179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9" name="Freeform 9"/>
          <p:cNvSpPr/>
          <p:nvPr/>
        </p:nvSpPr>
        <p:spPr>
          <a:xfrm flipH="1">
            <a:off x="-1050468" y="1355173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970879" y="2061414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2" y="0"/>
                </a:lnTo>
                <a:lnTo>
                  <a:pt x="12878362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253323" y="869997"/>
            <a:ext cx="5988749" cy="89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3"/>
              </a:lnSpc>
            </a:pPr>
            <a:r>
              <a:rPr lang="en-US" sz="639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Актуальнiсть</a:t>
            </a:r>
          </a:p>
        </p:txBody>
      </p:sp>
      <p:sp>
        <p:nvSpPr>
          <p:cNvPr id="10" name="Freeform 10"/>
          <p:cNvSpPr/>
          <p:nvPr/>
        </p:nvSpPr>
        <p:spPr>
          <a:xfrm>
            <a:off x="4023247" y="4691288"/>
            <a:ext cx="12773626" cy="2461826"/>
          </a:xfrm>
          <a:custGeom>
            <a:avLst/>
            <a:gdLst/>
            <a:ahLst/>
            <a:cxnLst/>
            <a:rect l="l" t="t" r="r" b="b"/>
            <a:pathLst>
              <a:path w="12773626" h="2461826">
                <a:moveTo>
                  <a:pt x="0" y="0"/>
                </a:moveTo>
                <a:lnTo>
                  <a:pt x="12773626" y="0"/>
                </a:lnTo>
                <a:lnTo>
                  <a:pt x="12773626" y="2461826"/>
                </a:lnTo>
                <a:lnTo>
                  <a:pt x="0" y="24618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632712" y="3001597"/>
            <a:ext cx="9894900" cy="51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60"/>
              </a:lnSpc>
            </a:pPr>
            <a:r>
              <a:rPr lang="en-US" sz="283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Зростання обсягів даних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32712" y="5643152"/>
            <a:ext cx="8893310" cy="472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8"/>
              </a:lnSpc>
            </a:pPr>
            <a:r>
              <a:rPr lang="en-US" sz="254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Обмеження класичних послідовних алгоритмів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97075" y="3267488"/>
            <a:ext cx="1056248" cy="177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4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3197333" y="6194269"/>
            <a:ext cx="1055989" cy="177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0"/>
              </a:lnSpc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4075614" y="7305514"/>
            <a:ext cx="12773626" cy="2461826"/>
          </a:xfrm>
          <a:custGeom>
            <a:avLst/>
            <a:gdLst/>
            <a:ahLst/>
            <a:cxnLst/>
            <a:rect l="l" t="t" r="r" b="b"/>
            <a:pathLst>
              <a:path w="12773626" h="2461826">
                <a:moveTo>
                  <a:pt x="0" y="0"/>
                </a:moveTo>
                <a:lnTo>
                  <a:pt x="12773627" y="0"/>
                </a:lnTo>
                <a:lnTo>
                  <a:pt x="12773627" y="2461826"/>
                </a:lnTo>
                <a:lnTo>
                  <a:pt x="0" y="24618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632712" y="8271960"/>
            <a:ext cx="8893310" cy="472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8"/>
              </a:lnSpc>
            </a:pPr>
            <a:r>
              <a:rPr lang="en-US" sz="254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Проблема паралельності Python (GIL)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22530" y="2131148"/>
            <a:ext cx="6297670" cy="896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843"/>
              </a:lnSpc>
            </a:pPr>
            <a:r>
              <a:rPr lang="en-US" sz="6395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Мета</a:t>
            </a:r>
            <a:r>
              <a:rPr lang="en-US" sz="6395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6395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роботи</a:t>
            </a:r>
            <a:endParaRPr lang="en-US" sz="6395" b="1" dirty="0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3970879" y="6117601"/>
            <a:ext cx="12145282" cy="2340727"/>
          </a:xfrm>
          <a:custGeom>
            <a:avLst/>
            <a:gdLst/>
            <a:ahLst/>
            <a:cxnLst/>
            <a:rect l="l" t="t" r="r" b="b"/>
            <a:pathLst>
              <a:path w="12145282" h="2340727">
                <a:moveTo>
                  <a:pt x="0" y="0"/>
                </a:moveTo>
                <a:lnTo>
                  <a:pt x="12145283" y="0"/>
                </a:lnTo>
                <a:lnTo>
                  <a:pt x="12145283" y="2340727"/>
                </a:lnTo>
                <a:lnTo>
                  <a:pt x="0" y="23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783831"/>
            <a:ext cx="9894900" cy="1620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60"/>
              </a:lnSpc>
            </a:pPr>
            <a:r>
              <a:rPr lang="en-US" sz="283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Розробка послідовної та паралельної версiї алгоритму Δ-степiнгу на Python iз забезпеченням прискорення &gt; 1.2 для графiв великої розмiрностi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00647" y="6277134"/>
            <a:ext cx="8893310" cy="19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8"/>
              </a:lnSpc>
            </a:pPr>
            <a:r>
              <a:rPr lang="en-US" sz="254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Дослідження прискорення та ефективності розроблених версій алгоритму на різних конфігураціях графу, кількості залучених процесів та параметру Δ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97075" y="3267488"/>
            <a:ext cx="1056248" cy="177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4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3197333" y="6194269"/>
            <a:ext cx="1055989" cy="177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0"/>
              </a:lnSpc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82098" y="4366653"/>
            <a:ext cx="11357889" cy="3040492"/>
            <a:chOff x="0" y="0"/>
            <a:chExt cx="2991378" cy="8007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91378" cy="800788"/>
            </a:xfrm>
            <a:custGeom>
              <a:avLst/>
              <a:gdLst/>
              <a:ahLst/>
              <a:cxnLst/>
              <a:rect l="l" t="t" r="r" b="b"/>
              <a:pathLst>
                <a:path w="2991378" h="800788">
                  <a:moveTo>
                    <a:pt x="11588" y="0"/>
                  </a:moveTo>
                  <a:lnTo>
                    <a:pt x="2979790" y="0"/>
                  </a:lnTo>
                  <a:cubicBezTo>
                    <a:pt x="2986190" y="0"/>
                    <a:pt x="2991378" y="5188"/>
                    <a:pt x="2991378" y="11588"/>
                  </a:cubicBezTo>
                  <a:lnTo>
                    <a:pt x="2991378" y="789200"/>
                  </a:lnTo>
                  <a:cubicBezTo>
                    <a:pt x="2991378" y="795600"/>
                    <a:pt x="2986190" y="800788"/>
                    <a:pt x="2979790" y="800788"/>
                  </a:cubicBezTo>
                  <a:lnTo>
                    <a:pt x="11588" y="800788"/>
                  </a:lnTo>
                  <a:cubicBezTo>
                    <a:pt x="5188" y="800788"/>
                    <a:pt x="0" y="795600"/>
                    <a:pt x="0" y="789200"/>
                  </a:cubicBezTo>
                  <a:lnTo>
                    <a:pt x="0" y="11588"/>
                  </a:lnTo>
                  <a:cubicBezTo>
                    <a:pt x="0" y="5188"/>
                    <a:pt x="5188" y="0"/>
                    <a:pt x="1158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991378" cy="8388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1427260" y="2818830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196550" y="4443287"/>
            <a:ext cx="11323949" cy="278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40"/>
              </a:lnSpc>
            </a:pPr>
            <a:r>
              <a:rPr lang="en-US" sz="28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Комбiнацiя пiдходiв Дейкстри та Беллмана-Форда</a:t>
            </a:r>
          </a:p>
          <a:p>
            <a:pPr marL="0" lvl="0" indent="0" algn="l">
              <a:lnSpc>
                <a:spcPts val="4440"/>
              </a:lnSpc>
            </a:pPr>
            <a:r>
              <a:rPr lang="en-US" sz="28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Розбиття вершин на кошики (buckets) з кроком Δ</a:t>
            </a:r>
          </a:p>
          <a:p>
            <a:pPr marL="0" lvl="0" indent="0" algn="l">
              <a:lnSpc>
                <a:spcPts val="4440"/>
              </a:lnSpc>
            </a:pPr>
            <a:r>
              <a:rPr lang="en-US" sz="28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Послiдовна релаксацiя легких ребер (вага &lt; Δ)</a:t>
            </a:r>
          </a:p>
          <a:p>
            <a:pPr marL="0" lvl="0" indent="0" algn="l">
              <a:lnSpc>
                <a:spcPts val="4440"/>
              </a:lnSpc>
            </a:pPr>
            <a:r>
              <a:rPr lang="en-US" sz="28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Паралельна обробка важких ребер (вага ≥ Δ)</a:t>
            </a:r>
          </a:p>
          <a:p>
            <a:pPr marL="0" lvl="0" indent="0" algn="l">
              <a:lnSpc>
                <a:spcPts val="4440"/>
              </a:lnSpc>
            </a:pPr>
            <a:r>
              <a:rPr lang="en-US" sz="28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Ефективний баланс мiж локальнiстю та паралелiзмом</a:t>
            </a:r>
          </a:p>
        </p:txBody>
      </p:sp>
      <p:sp>
        <p:nvSpPr>
          <p:cNvPr id="12" name="Freeform 12"/>
          <p:cNvSpPr/>
          <p:nvPr/>
        </p:nvSpPr>
        <p:spPr>
          <a:xfrm>
            <a:off x="4394185" y="2418534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8"/>
                </a:lnTo>
                <a:lnTo>
                  <a:pt x="0" y="14098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802770" y="2866455"/>
            <a:ext cx="5500573" cy="561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98"/>
              </a:lnSpc>
            </a:pPr>
            <a:r>
              <a:rPr lang="en-US" sz="4017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Алгоритм Δ-степiнгу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044543" y="4631562"/>
            <a:ext cx="304015" cy="30401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617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44543" y="5172075"/>
            <a:ext cx="304015" cy="30401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617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44936" y="5790807"/>
            <a:ext cx="304015" cy="30401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617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044543" y="6294847"/>
            <a:ext cx="304015" cy="30401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617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044543" y="6838370"/>
            <a:ext cx="304015" cy="30401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6179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15596" y="2031115"/>
            <a:ext cx="10664072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7"/>
              </a:lnSpc>
            </a:pPr>
            <a:r>
              <a:rPr lang="en-US" sz="6399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Паралельна архiтектура</a:t>
            </a: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817147"/>
            <a:ext cx="9894900" cy="154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47"/>
              </a:lnSpc>
            </a:pPr>
            <a:r>
              <a:rPr lang="en-US" sz="2693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Використання модуля multiprocessing для обходу обмежень GIL (Global Interpreter Lock) та забезпечення справжньої паралельностi обчислень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9661" y="6631567"/>
            <a:ext cx="9894900" cy="154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47"/>
              </a:lnSpc>
            </a:pPr>
            <a:r>
              <a:rPr lang="en-US" sz="2693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Органiзацiя спiльної пам'ятi через SharedMemory (NumPy) для уникнення затримок на серiалiзацiї даних  мiж процесами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97075" y="3638963"/>
            <a:ext cx="1056248" cy="937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417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3197333" y="6565744"/>
            <a:ext cx="1055989" cy="93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415"/>
              </a:lnSpc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38305" y="-111532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22530" y="2254898"/>
            <a:ext cx="12078252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7"/>
              </a:lnSpc>
            </a:pPr>
            <a:r>
              <a:rPr lang="en-US" sz="6399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Механiзми синхронiзацiї</a:t>
            </a: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372511" y="4019917"/>
            <a:ext cx="9894900" cy="104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53"/>
              </a:lnSpc>
            </a:pPr>
            <a:r>
              <a:rPr lang="en-US" sz="27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Реалiзацiя локальної обробки для зменшення звертань до глобальних структур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72511" y="6526792"/>
            <a:ext cx="10142743" cy="157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53"/>
              </a:lnSpc>
            </a:pPr>
            <a:r>
              <a:rPr lang="en-US" sz="27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Використання незалежних м'ютексiв (Locks) для масиву вiдстаней та кошиків, що мiнiмiзує конкуренцiю та пiдвищує паралельну ефективнiсть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4687877" y="2527988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4"/>
                </a:moveTo>
                <a:lnTo>
                  <a:pt x="8638772" y="5733004"/>
                </a:lnTo>
                <a:lnTo>
                  <a:pt x="8638772" y="0"/>
                </a:lnTo>
                <a:lnTo>
                  <a:pt x="0" y="0"/>
                </a:lnTo>
                <a:lnTo>
                  <a:pt x="0" y="5733004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407830" y="1962006"/>
            <a:ext cx="7078253" cy="4697386"/>
          </a:xfrm>
          <a:custGeom>
            <a:avLst/>
            <a:gdLst/>
            <a:ahLst/>
            <a:cxnLst/>
            <a:rect l="l" t="t" r="r" b="b"/>
            <a:pathLst>
              <a:path w="7078253" h="4697386">
                <a:moveTo>
                  <a:pt x="7078253" y="0"/>
                </a:moveTo>
                <a:lnTo>
                  <a:pt x="0" y="0"/>
                </a:lnTo>
                <a:lnTo>
                  <a:pt x="0" y="4697386"/>
                </a:lnTo>
                <a:lnTo>
                  <a:pt x="7078253" y="4697386"/>
                </a:lnTo>
                <a:lnTo>
                  <a:pt x="707825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878252" y="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458687" y="6659392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4835143" y="7228661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8"/>
                </a:moveTo>
                <a:lnTo>
                  <a:pt x="0" y="3411528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266949" y="3861229"/>
            <a:ext cx="9894900" cy="157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53"/>
              </a:lnSpc>
            </a:pPr>
            <a:r>
              <a:rPr lang="en-US" sz="27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Реалiзацiя дворiвневого гранулярного блокування для забезпечення коректного доступу до спiльних структур даних мiж процесами.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659454" y="2618515"/>
            <a:ext cx="11502394" cy="7261513"/>
            <a:chOff x="0" y="0"/>
            <a:chExt cx="3029437" cy="19124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29437" cy="1912497"/>
            </a:xfrm>
            <a:custGeom>
              <a:avLst/>
              <a:gdLst/>
              <a:ahLst/>
              <a:cxnLst/>
              <a:rect l="l" t="t" r="r" b="b"/>
              <a:pathLst>
                <a:path w="3029437" h="1912497">
                  <a:moveTo>
                    <a:pt x="67307" y="0"/>
                  </a:moveTo>
                  <a:lnTo>
                    <a:pt x="2962130" y="0"/>
                  </a:lnTo>
                  <a:cubicBezTo>
                    <a:pt x="2979981" y="0"/>
                    <a:pt x="2997101" y="7091"/>
                    <a:pt x="3009723" y="19714"/>
                  </a:cubicBezTo>
                  <a:cubicBezTo>
                    <a:pt x="3022346" y="32336"/>
                    <a:pt x="3029437" y="49456"/>
                    <a:pt x="3029437" y="67307"/>
                  </a:cubicBezTo>
                  <a:lnTo>
                    <a:pt x="3029437" y="1845190"/>
                  </a:lnTo>
                  <a:cubicBezTo>
                    <a:pt x="3029437" y="1882363"/>
                    <a:pt x="2999303" y="1912497"/>
                    <a:pt x="2962130" y="1912497"/>
                  </a:cubicBezTo>
                  <a:lnTo>
                    <a:pt x="67307" y="1912497"/>
                  </a:lnTo>
                  <a:cubicBezTo>
                    <a:pt x="30134" y="1912497"/>
                    <a:pt x="0" y="1882363"/>
                    <a:pt x="0" y="1845190"/>
                  </a:cubicBezTo>
                  <a:lnTo>
                    <a:pt x="0" y="67307"/>
                  </a:lnTo>
                  <a:cubicBezTo>
                    <a:pt x="0" y="30134"/>
                    <a:pt x="30134" y="0"/>
                    <a:pt x="673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029437" cy="1950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484618" y="1443649"/>
            <a:ext cx="7852067" cy="108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23"/>
              </a:lnSpc>
            </a:pPr>
            <a:r>
              <a:rPr lang="en-US" sz="3946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Прискорення та ефективнiсть при Δ =1</a:t>
            </a:r>
          </a:p>
        </p:txBody>
      </p:sp>
      <p:sp>
        <p:nvSpPr>
          <p:cNvPr id="13" name="Freeform 13"/>
          <p:cNvSpPr/>
          <p:nvPr/>
        </p:nvSpPr>
        <p:spPr>
          <a:xfrm flipH="1">
            <a:off x="5381014" y="-3132292"/>
            <a:ext cx="7078253" cy="4697386"/>
          </a:xfrm>
          <a:custGeom>
            <a:avLst/>
            <a:gdLst/>
            <a:ahLst/>
            <a:cxnLst/>
            <a:rect l="l" t="t" r="r" b="b"/>
            <a:pathLst>
              <a:path w="7078253" h="4697386">
                <a:moveTo>
                  <a:pt x="7078253" y="0"/>
                </a:moveTo>
                <a:lnTo>
                  <a:pt x="0" y="0"/>
                </a:lnTo>
                <a:lnTo>
                  <a:pt x="0" y="4697386"/>
                </a:lnTo>
                <a:lnTo>
                  <a:pt x="7078253" y="4697386"/>
                </a:lnTo>
                <a:lnTo>
                  <a:pt x="707825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-2255430" y="2114406"/>
            <a:ext cx="7078253" cy="4697386"/>
          </a:xfrm>
          <a:custGeom>
            <a:avLst/>
            <a:gdLst/>
            <a:ahLst/>
            <a:cxnLst/>
            <a:rect l="l" t="t" r="r" b="b"/>
            <a:pathLst>
              <a:path w="7078253" h="4697386">
                <a:moveTo>
                  <a:pt x="7078253" y="0"/>
                </a:moveTo>
                <a:lnTo>
                  <a:pt x="0" y="0"/>
                </a:lnTo>
                <a:lnTo>
                  <a:pt x="0" y="4697386"/>
                </a:lnTo>
                <a:lnTo>
                  <a:pt x="7078253" y="4697386"/>
                </a:lnTo>
                <a:lnTo>
                  <a:pt x="707825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134682" y="2916007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4677007" y="2392259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4"/>
                </a:moveTo>
                <a:lnTo>
                  <a:pt x="8638772" y="5733004"/>
                </a:lnTo>
                <a:lnTo>
                  <a:pt x="8638772" y="0"/>
                </a:lnTo>
                <a:lnTo>
                  <a:pt x="0" y="0"/>
                </a:lnTo>
                <a:lnTo>
                  <a:pt x="0" y="5733004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407830" y="1962006"/>
            <a:ext cx="7078253" cy="4697386"/>
          </a:xfrm>
          <a:custGeom>
            <a:avLst/>
            <a:gdLst/>
            <a:ahLst/>
            <a:cxnLst/>
            <a:rect l="l" t="t" r="r" b="b"/>
            <a:pathLst>
              <a:path w="7078253" h="4697386">
                <a:moveTo>
                  <a:pt x="7078253" y="0"/>
                </a:moveTo>
                <a:lnTo>
                  <a:pt x="0" y="0"/>
                </a:lnTo>
                <a:lnTo>
                  <a:pt x="0" y="4697386"/>
                </a:lnTo>
                <a:lnTo>
                  <a:pt x="7078253" y="4697386"/>
                </a:lnTo>
                <a:lnTo>
                  <a:pt x="707825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95402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458687" y="6659392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4835143" y="7228661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8"/>
                </a:moveTo>
                <a:lnTo>
                  <a:pt x="0" y="3411528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266949" y="3861229"/>
            <a:ext cx="9894900" cy="157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53"/>
              </a:lnSpc>
            </a:pPr>
            <a:r>
              <a:rPr lang="en-US" sz="27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Реалiзацiя дворiвневого гранулярного блокування для забезпечення коректного доступу до спiльних структур даних мiж процесами.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659454" y="2618515"/>
            <a:ext cx="11502394" cy="7261513"/>
            <a:chOff x="0" y="0"/>
            <a:chExt cx="3029437" cy="19124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29437" cy="1912497"/>
            </a:xfrm>
            <a:custGeom>
              <a:avLst/>
              <a:gdLst/>
              <a:ahLst/>
              <a:cxnLst/>
              <a:rect l="l" t="t" r="r" b="b"/>
              <a:pathLst>
                <a:path w="3029437" h="1912497">
                  <a:moveTo>
                    <a:pt x="67307" y="0"/>
                  </a:moveTo>
                  <a:lnTo>
                    <a:pt x="2962130" y="0"/>
                  </a:lnTo>
                  <a:cubicBezTo>
                    <a:pt x="2979981" y="0"/>
                    <a:pt x="2997101" y="7091"/>
                    <a:pt x="3009723" y="19714"/>
                  </a:cubicBezTo>
                  <a:cubicBezTo>
                    <a:pt x="3022346" y="32336"/>
                    <a:pt x="3029437" y="49456"/>
                    <a:pt x="3029437" y="67307"/>
                  </a:cubicBezTo>
                  <a:lnTo>
                    <a:pt x="3029437" y="1845190"/>
                  </a:lnTo>
                  <a:cubicBezTo>
                    <a:pt x="3029437" y="1882363"/>
                    <a:pt x="2999303" y="1912497"/>
                    <a:pt x="2962130" y="1912497"/>
                  </a:cubicBezTo>
                  <a:lnTo>
                    <a:pt x="67307" y="1912497"/>
                  </a:lnTo>
                  <a:cubicBezTo>
                    <a:pt x="30134" y="1912497"/>
                    <a:pt x="0" y="1882363"/>
                    <a:pt x="0" y="1845190"/>
                  </a:cubicBezTo>
                  <a:lnTo>
                    <a:pt x="0" y="67307"/>
                  </a:lnTo>
                  <a:cubicBezTo>
                    <a:pt x="0" y="30134"/>
                    <a:pt x="30134" y="0"/>
                    <a:pt x="673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029437" cy="1950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flipH="1">
            <a:off x="5381014" y="-3132292"/>
            <a:ext cx="7078253" cy="4697386"/>
          </a:xfrm>
          <a:custGeom>
            <a:avLst/>
            <a:gdLst/>
            <a:ahLst/>
            <a:cxnLst/>
            <a:rect l="l" t="t" r="r" b="b"/>
            <a:pathLst>
              <a:path w="7078253" h="4697386">
                <a:moveTo>
                  <a:pt x="7078253" y="0"/>
                </a:moveTo>
                <a:lnTo>
                  <a:pt x="0" y="0"/>
                </a:lnTo>
                <a:lnTo>
                  <a:pt x="0" y="4697386"/>
                </a:lnTo>
                <a:lnTo>
                  <a:pt x="7078253" y="4697386"/>
                </a:lnTo>
                <a:lnTo>
                  <a:pt x="707825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-2255430" y="2114406"/>
            <a:ext cx="7078253" cy="4697386"/>
          </a:xfrm>
          <a:custGeom>
            <a:avLst/>
            <a:gdLst/>
            <a:ahLst/>
            <a:cxnLst/>
            <a:rect l="l" t="t" r="r" b="b"/>
            <a:pathLst>
              <a:path w="7078253" h="4697386">
                <a:moveTo>
                  <a:pt x="7078253" y="0"/>
                </a:moveTo>
                <a:lnTo>
                  <a:pt x="0" y="0"/>
                </a:lnTo>
                <a:lnTo>
                  <a:pt x="0" y="4697386"/>
                </a:lnTo>
                <a:lnTo>
                  <a:pt x="7078253" y="4697386"/>
                </a:lnTo>
                <a:lnTo>
                  <a:pt x="707825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266949" y="2780175"/>
            <a:ext cx="8267143" cy="5911007"/>
          </a:xfrm>
          <a:custGeom>
            <a:avLst/>
            <a:gdLst/>
            <a:ahLst/>
            <a:cxnLst/>
            <a:rect l="l" t="t" r="r" b="b"/>
            <a:pathLst>
              <a:path w="8267143" h="5911007">
                <a:moveTo>
                  <a:pt x="0" y="0"/>
                </a:moveTo>
                <a:lnTo>
                  <a:pt x="8267143" y="0"/>
                </a:lnTo>
                <a:lnTo>
                  <a:pt x="8267143" y="5911008"/>
                </a:lnTo>
                <a:lnTo>
                  <a:pt x="0" y="59110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801919" y="1862749"/>
            <a:ext cx="7743592" cy="55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23"/>
              </a:lnSpc>
            </a:pPr>
            <a:r>
              <a:rPr lang="en-US" sz="3946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Дослiдження параметру Δ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4677007" y="2392259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4"/>
                </a:moveTo>
                <a:lnTo>
                  <a:pt x="8638772" y="5733004"/>
                </a:lnTo>
                <a:lnTo>
                  <a:pt x="8638772" y="0"/>
                </a:lnTo>
                <a:lnTo>
                  <a:pt x="0" y="0"/>
                </a:lnTo>
                <a:lnTo>
                  <a:pt x="0" y="5733004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407830" y="1962006"/>
            <a:ext cx="7078253" cy="4697386"/>
          </a:xfrm>
          <a:custGeom>
            <a:avLst/>
            <a:gdLst/>
            <a:ahLst/>
            <a:cxnLst/>
            <a:rect l="l" t="t" r="r" b="b"/>
            <a:pathLst>
              <a:path w="7078253" h="4697386">
                <a:moveTo>
                  <a:pt x="7078253" y="0"/>
                </a:moveTo>
                <a:lnTo>
                  <a:pt x="0" y="0"/>
                </a:lnTo>
                <a:lnTo>
                  <a:pt x="0" y="4697386"/>
                </a:lnTo>
                <a:lnTo>
                  <a:pt x="7078253" y="4697386"/>
                </a:lnTo>
                <a:lnTo>
                  <a:pt x="707825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878252" y="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458687" y="6659392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4835143" y="7228661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8"/>
                </a:moveTo>
                <a:lnTo>
                  <a:pt x="0" y="3411528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266949" y="3861229"/>
            <a:ext cx="9894900" cy="157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53"/>
              </a:lnSpc>
            </a:pPr>
            <a:r>
              <a:rPr lang="en-US" sz="27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Реалiзацiя дворiвневого гранулярного блокування для забезпечення коректного доступу до спiльних структур даних мiж процесами.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659454" y="2618515"/>
            <a:ext cx="11502394" cy="7261513"/>
            <a:chOff x="0" y="0"/>
            <a:chExt cx="3029437" cy="19124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29437" cy="1912497"/>
            </a:xfrm>
            <a:custGeom>
              <a:avLst/>
              <a:gdLst/>
              <a:ahLst/>
              <a:cxnLst/>
              <a:rect l="l" t="t" r="r" b="b"/>
              <a:pathLst>
                <a:path w="3029437" h="1912497">
                  <a:moveTo>
                    <a:pt x="67307" y="0"/>
                  </a:moveTo>
                  <a:lnTo>
                    <a:pt x="2962130" y="0"/>
                  </a:lnTo>
                  <a:cubicBezTo>
                    <a:pt x="2979981" y="0"/>
                    <a:pt x="2997101" y="7091"/>
                    <a:pt x="3009723" y="19714"/>
                  </a:cubicBezTo>
                  <a:cubicBezTo>
                    <a:pt x="3022346" y="32336"/>
                    <a:pt x="3029437" y="49456"/>
                    <a:pt x="3029437" y="67307"/>
                  </a:cubicBezTo>
                  <a:lnTo>
                    <a:pt x="3029437" y="1845190"/>
                  </a:lnTo>
                  <a:cubicBezTo>
                    <a:pt x="3029437" y="1882363"/>
                    <a:pt x="2999303" y="1912497"/>
                    <a:pt x="2962130" y="1912497"/>
                  </a:cubicBezTo>
                  <a:lnTo>
                    <a:pt x="67307" y="1912497"/>
                  </a:lnTo>
                  <a:cubicBezTo>
                    <a:pt x="30134" y="1912497"/>
                    <a:pt x="0" y="1882363"/>
                    <a:pt x="0" y="1845190"/>
                  </a:cubicBezTo>
                  <a:lnTo>
                    <a:pt x="0" y="67307"/>
                  </a:lnTo>
                  <a:cubicBezTo>
                    <a:pt x="0" y="30134"/>
                    <a:pt x="30134" y="0"/>
                    <a:pt x="673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029437" cy="1950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527224" y="1076325"/>
            <a:ext cx="7958485" cy="161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23"/>
              </a:lnSpc>
            </a:pPr>
            <a:r>
              <a:rPr lang="en-US" sz="3946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Прискорення</a:t>
            </a:r>
            <a:r>
              <a:rPr lang="en-US" sz="3946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46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та</a:t>
            </a:r>
            <a:r>
              <a:rPr lang="en-US" sz="3946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46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ефективнiсть</a:t>
            </a:r>
            <a:r>
              <a:rPr lang="en-US" sz="3946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46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при</a:t>
            </a:r>
            <a:r>
              <a:rPr lang="en-US" sz="3946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46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оптимальному</a:t>
            </a:r>
            <a:r>
              <a:rPr lang="en-US" sz="3946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46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параметру</a:t>
            </a:r>
            <a:r>
              <a:rPr lang="en-US" sz="3946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endParaRPr lang="uk-UA" sz="3946" b="1" dirty="0" smtClean="0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0" lvl="0" indent="0" algn="ctr">
              <a:lnSpc>
                <a:spcPts val="4223"/>
              </a:lnSpc>
            </a:pPr>
            <a:r>
              <a:rPr lang="en-US" sz="3946" b="1" dirty="0" smtClean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Δ </a:t>
            </a:r>
            <a:r>
              <a:rPr lang="en-US" sz="3946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= 2</a:t>
            </a:r>
          </a:p>
        </p:txBody>
      </p:sp>
      <p:sp>
        <p:nvSpPr>
          <p:cNvPr id="13" name="Freeform 13"/>
          <p:cNvSpPr/>
          <p:nvPr/>
        </p:nvSpPr>
        <p:spPr>
          <a:xfrm flipH="1">
            <a:off x="5381014" y="-3132292"/>
            <a:ext cx="7078253" cy="4697386"/>
          </a:xfrm>
          <a:custGeom>
            <a:avLst/>
            <a:gdLst/>
            <a:ahLst/>
            <a:cxnLst/>
            <a:rect l="l" t="t" r="r" b="b"/>
            <a:pathLst>
              <a:path w="7078253" h="4697386">
                <a:moveTo>
                  <a:pt x="7078253" y="0"/>
                </a:moveTo>
                <a:lnTo>
                  <a:pt x="0" y="0"/>
                </a:lnTo>
                <a:lnTo>
                  <a:pt x="0" y="4697386"/>
                </a:lnTo>
                <a:lnTo>
                  <a:pt x="7078253" y="4697386"/>
                </a:lnTo>
                <a:lnTo>
                  <a:pt x="707825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-2255430" y="2114406"/>
            <a:ext cx="7078253" cy="4697386"/>
          </a:xfrm>
          <a:custGeom>
            <a:avLst/>
            <a:gdLst/>
            <a:ahLst/>
            <a:cxnLst/>
            <a:rect l="l" t="t" r="r" b="b"/>
            <a:pathLst>
              <a:path w="7078253" h="4697386">
                <a:moveTo>
                  <a:pt x="7078253" y="0"/>
                </a:moveTo>
                <a:lnTo>
                  <a:pt x="0" y="0"/>
                </a:lnTo>
                <a:lnTo>
                  <a:pt x="0" y="4697386"/>
                </a:lnTo>
                <a:lnTo>
                  <a:pt x="7078253" y="4697386"/>
                </a:lnTo>
                <a:lnTo>
                  <a:pt x="707825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978752" y="3336570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019649" y="2275222"/>
            <a:ext cx="10769714" cy="2075618"/>
          </a:xfrm>
          <a:custGeom>
            <a:avLst/>
            <a:gdLst/>
            <a:ahLst/>
            <a:cxnLst/>
            <a:rect l="l" t="t" r="r" b="b"/>
            <a:pathLst>
              <a:path w="10769714" h="2075618">
                <a:moveTo>
                  <a:pt x="0" y="0"/>
                </a:moveTo>
                <a:lnTo>
                  <a:pt x="10769714" y="0"/>
                </a:lnTo>
                <a:lnTo>
                  <a:pt x="10769714" y="2075618"/>
                </a:lnTo>
                <a:lnTo>
                  <a:pt x="0" y="20756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197333" y="1196812"/>
            <a:ext cx="4914903" cy="89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3"/>
              </a:lnSpc>
            </a:pPr>
            <a:r>
              <a:rPr lang="en-US" sz="639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Висновки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74931" y="2706538"/>
            <a:ext cx="7979365" cy="106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60"/>
              </a:lnSpc>
            </a:pPr>
            <a:r>
              <a:rPr lang="en-US" sz="283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Успішно реалізовано послідовну та паралельну версію  Δ-степiнгу 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97333" y="6194269"/>
            <a:ext cx="1055989" cy="177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080"/>
              </a:lnSpc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3019649" y="4451183"/>
            <a:ext cx="10769714" cy="2075618"/>
          </a:xfrm>
          <a:custGeom>
            <a:avLst/>
            <a:gdLst/>
            <a:ahLst/>
            <a:cxnLst/>
            <a:rect l="l" t="t" r="r" b="b"/>
            <a:pathLst>
              <a:path w="10769714" h="2075618">
                <a:moveTo>
                  <a:pt x="0" y="0"/>
                </a:moveTo>
                <a:lnTo>
                  <a:pt x="10769714" y="0"/>
                </a:lnTo>
                <a:lnTo>
                  <a:pt x="10769714" y="2075617"/>
                </a:lnTo>
                <a:lnTo>
                  <a:pt x="0" y="2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974931" y="5122365"/>
            <a:ext cx="9894900" cy="51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60"/>
              </a:lnSpc>
            </a:pPr>
            <a:r>
              <a:rPr lang="en-US" sz="283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Досліджено оптимальний параметр Δ</a:t>
            </a:r>
          </a:p>
        </p:txBody>
      </p:sp>
      <p:sp>
        <p:nvSpPr>
          <p:cNvPr id="14" name="Freeform 14"/>
          <p:cNvSpPr/>
          <p:nvPr/>
        </p:nvSpPr>
        <p:spPr>
          <a:xfrm>
            <a:off x="3019649" y="6660150"/>
            <a:ext cx="10769714" cy="2075618"/>
          </a:xfrm>
          <a:custGeom>
            <a:avLst/>
            <a:gdLst/>
            <a:ahLst/>
            <a:cxnLst/>
            <a:rect l="l" t="t" r="r" b="b"/>
            <a:pathLst>
              <a:path w="10769714" h="2075618">
                <a:moveTo>
                  <a:pt x="0" y="0"/>
                </a:moveTo>
                <a:lnTo>
                  <a:pt x="10769714" y="0"/>
                </a:lnTo>
                <a:lnTo>
                  <a:pt x="10769714" y="2075618"/>
                </a:lnTo>
                <a:lnTo>
                  <a:pt x="0" y="20756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974931" y="7120912"/>
            <a:ext cx="9894900" cy="106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283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Отримано прискорення &gt;1.2 для великих </a:t>
            </a:r>
          </a:p>
          <a:p>
            <a:pPr marL="0" lvl="0" indent="0" algn="l">
              <a:lnSpc>
                <a:spcPts val="4360"/>
              </a:lnSpc>
            </a:pPr>
            <a:r>
              <a:rPr lang="en-US" sz="283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вхідних даних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4145" y="0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748364" y="8843932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169859" y="5618309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47997" y="3177290"/>
            <a:ext cx="10792006" cy="1468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48"/>
              </a:lnSpc>
            </a:pPr>
            <a:r>
              <a:rPr lang="en-US" sz="10512" b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Дякую за увагу!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97924" y="4847008"/>
            <a:ext cx="7033295" cy="1063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78"/>
              </a:lnSpc>
            </a:pPr>
            <a:r>
              <a:rPr lang="en-US" sz="7643" b="1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Запитання?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-1050468" y="1355173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Произвольный</PresentationFormat>
  <Paragraphs>36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Montserrat Bold</vt:lpstr>
      <vt:lpstr>Calibri</vt:lpstr>
      <vt:lpstr>Aileron Bold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Курсова ТПО</dc:title>
  <cp:lastModifiedBy>Учетная запись Майкрософт</cp:lastModifiedBy>
  <cp:revision>2</cp:revision>
  <dcterms:created xsi:type="dcterms:W3CDTF">2006-08-16T00:00:00Z</dcterms:created>
  <dcterms:modified xsi:type="dcterms:W3CDTF">2026-04-13T13:30:05Z</dcterms:modified>
  <dc:identifier>DAHGuO7uE24</dc:identifier>
</cp:coreProperties>
</file>